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embeddedFontLst>
    <p:embeddedFont>
      <p:font typeface="Inter Tight" panose="020B0604020202020204" charset="0"/>
      <p:regular r:id="rId13"/>
    </p:embeddedFont>
    <p:embeddedFont>
      <p:font typeface="Inter Tight Bold" panose="020B0604020202020204" charset="0"/>
      <p:regular r:id="rId14"/>
    </p:embeddedFont>
    <p:embeddedFont>
      <p:font typeface="Inter Tight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ya Saxena" userId="d3c6a1569a509ef1" providerId="LiveId" clId="{44108BAE-6153-49A1-9030-503C49A38874}"/>
    <pc:docChg chg="modSld modShowInfo">
      <pc:chgData name="Ananya Saxena" userId="d3c6a1569a509ef1" providerId="LiveId" clId="{44108BAE-6153-49A1-9030-503C49A38874}" dt="2026-08-02T05:00:47.104" v="2" actId="2744"/>
      <pc:docMkLst>
        <pc:docMk/>
      </pc:docMkLst>
      <pc:sldChg chg="modSp mod">
        <pc:chgData name="Ananya Saxena" userId="d3c6a1569a509ef1" providerId="LiveId" clId="{44108BAE-6153-49A1-9030-503C49A38874}" dt="2026-08-02T03:04:43.156" v="1" actId="255"/>
        <pc:sldMkLst>
          <pc:docMk/>
          <pc:sldMk cId="0" sldId="264"/>
        </pc:sldMkLst>
        <pc:spChg chg="mod">
          <ac:chgData name="Ananya Saxena" userId="d3c6a1569a509ef1" providerId="LiveId" clId="{44108BAE-6153-49A1-9030-503C49A38874}" dt="2026-08-02T03:04:43.156" v="1" actId="255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nanya Saxena" userId="d3c6a1569a509ef1" providerId="LiveId" clId="{44108BAE-6153-49A1-9030-503C49A38874}" dt="2026-08-02T03:04:35.987" v="0" actId="255"/>
          <ac:spMkLst>
            <pc:docMk/>
            <pc:sldMk cId="0" sldId="264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551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1396" y="532730"/>
            <a:ext cx="8241209" cy="3713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Aft>
                <a:spcPts val="700"/>
              </a:spcAft>
              <a:buNone/>
            </a:pP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1396" y="1027881"/>
            <a:ext cx="8241209" cy="859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6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RetailIQ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1396" y="2011635"/>
            <a:ext cx="8241209" cy="171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60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Smart Retail Intelligence Platform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1396" y="3855318"/>
            <a:ext cx="8241209" cy="214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Machine Learning &amp; Generative AI based Retail Management System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1396" y="4268391"/>
            <a:ext cx="4451970" cy="13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02597" y="4663604"/>
            <a:ext cx="4441403" cy="13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1396" y="4969966"/>
            <a:ext cx="8692604" cy="139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51396" y="5276329"/>
            <a:ext cx="5301258" cy="111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551884" y="5276329"/>
            <a:ext cx="3145482" cy="10488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spcAft>
                <a:spcPts val="550"/>
              </a:spcAft>
              <a:buNone/>
            </a:pPr>
            <a:r>
              <a:rPr lang="en-US" sz="10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Team Members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Anamika Yadav (CS3C) - Team Leader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Ananya Saxena (CS3D)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Ananya Dixit (CS3B)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Akshita Singh (CS3G)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Akanksha Tripathi (CS3J)</a:t>
            </a:r>
            <a:endParaRPr lang="en-US" sz="1000" dirty="0"/>
          </a:p>
          <a:p>
            <a:pPr marL="0" indent="0" algn="l">
              <a:lnSpc>
                <a:spcPct val="9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Akshra (CS3B)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456679"/>
            <a:ext cx="4812209" cy="429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396" y="1080120"/>
            <a:ext cx="4812209" cy="532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51396" y="1873374"/>
            <a:ext cx="2761431" cy="1934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Small and medium retailers in India rely on manual record-keeping or basic billing software, leaving them with no real insight into business performance — just transaction records. Existing AI-powered platforms are priced for large businesses and assume English-language dashboards, leaving small Indian retailers with guesswork instead of data-driven decisions.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2212" y="1902396"/>
            <a:ext cx="1736080" cy="15715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2609" y="2045643"/>
            <a:ext cx="1392436" cy="53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No Demand Insight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3732609" y="2711872"/>
            <a:ext cx="1392436" cy="618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Overstocking or understocking due to inability to predict demand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2212" y="3602906"/>
            <a:ext cx="1736080" cy="12621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32609" y="3746153"/>
            <a:ext cx="1392436" cy="53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No Fraud Detection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3732609" y="4412382"/>
            <a:ext cx="139243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way to detect errors or unusual sales activity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32212" y="4994002"/>
            <a:ext cx="1736080" cy="12621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732609" y="5137249"/>
            <a:ext cx="1392436" cy="537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Unaffordable Tools</a:t>
            </a:r>
            <a:endParaRPr lang="en-US" sz="1750" dirty="0"/>
          </a:p>
        </p:txBody>
      </p:sp>
      <p:sp>
        <p:nvSpPr>
          <p:cNvPr id="14" name="Text 8"/>
          <p:cNvSpPr/>
          <p:nvPr/>
        </p:nvSpPr>
        <p:spPr>
          <a:xfrm>
            <a:off x="3732609" y="5803478"/>
            <a:ext cx="1392436" cy="3094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Cin7, Zoho, IBM priced for large businesses only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1374800"/>
            <a:ext cx="4812209" cy="429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396" y="1998241"/>
            <a:ext cx="4812209" cy="1064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RetailIQ — a web-based platform combining Machine Learning and Generative AI, purpose-built for small and medium retailers.</a:t>
            </a:r>
            <a:endParaRPr lang="en-US" sz="1250" dirty="0"/>
          </a:p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1396" y="3207469"/>
            <a:ext cx="4812209" cy="1073348"/>
          </a:xfrm>
          <a:prstGeom prst="roundRect">
            <a:avLst>
              <a:gd name="adj" fmla="val 10816"/>
            </a:avLst>
          </a:prstGeom>
          <a:solidFill>
            <a:srgbClr val="000000">
              <a:alpha val="95000"/>
            </a:srgbClr>
          </a:solidFill>
          <a:ln w="14288">
            <a:solidFill>
              <a:srgbClr val="38383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93" y="3144366"/>
            <a:ext cx="154781" cy="154781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926" y="4189140"/>
            <a:ext cx="154781" cy="15478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9160" y="3415233"/>
            <a:ext cx="4396680" cy="65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"Role-based access for Admin, Manager, and Employee — ensuring the right people see the right data."</a:t>
            </a:r>
            <a:endParaRPr lang="en-US" sz="1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— Access Control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451396" y="4409777"/>
            <a:ext cx="4812209" cy="1073348"/>
          </a:xfrm>
          <a:prstGeom prst="roundRect">
            <a:avLst>
              <a:gd name="adj" fmla="val 10816"/>
            </a:avLst>
          </a:prstGeom>
          <a:solidFill>
            <a:srgbClr val="000000">
              <a:alpha val="95000"/>
            </a:srgbClr>
          </a:solidFill>
          <a:ln w="14288">
            <a:solidFill>
              <a:srgbClr val="383838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293" y="4346674"/>
            <a:ext cx="154781" cy="154781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1926" y="5391448"/>
            <a:ext cx="154781" cy="154781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59160" y="4617541"/>
            <a:ext cx="4396680" cy="657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"ML-driven demand forecasting, anomaly detection, and a conversational AI Business Assistant — all in one platform."</a:t>
            </a:r>
            <a:endParaRPr lang="en-US" sz="12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— Intelligence Layer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880396" y="462707"/>
            <a:ext cx="4812209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Core Features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880396" y="1045666"/>
            <a:ext cx="4812209" cy="53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RetailIQ delivers a comprehensive suite of intelligent tools designed to transform how small and medium retailers manage and grow their business.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80396" y="1713905"/>
            <a:ext cx="5263604" cy="143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880396" y="1988121"/>
            <a:ext cx="601489" cy="749126"/>
          </a:xfrm>
          <a:prstGeom prst="roundRect">
            <a:avLst>
              <a:gd name="adj" fmla="val 18336"/>
            </a:avLst>
          </a:prstGeom>
          <a:solidFill>
            <a:srgbClr val="1F1F1F"/>
          </a:solidFill>
          <a:ln w="4763">
            <a:solidFill>
              <a:srgbClr val="38383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95006" y="2276475"/>
            <a:ext cx="172269" cy="1722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04370" y="2110606"/>
            <a:ext cx="3965749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Authentication &amp; Role-Based Access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4604370" y="2435647"/>
            <a:ext cx="3965749" cy="179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Secure login with </a:t>
            </a: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Admin, Manager, and Employee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roles.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43127" y="2731294"/>
            <a:ext cx="4088234" cy="7144"/>
          </a:xfrm>
          <a:prstGeom prst="roundRect">
            <a:avLst>
              <a:gd name="adj" fmla="val 49998"/>
            </a:avLst>
          </a:prstGeom>
          <a:solidFill>
            <a:srgbClr val="383838"/>
          </a:solidFill>
          <a:ln/>
        </p:spPr>
      </p:sp>
      <p:sp>
        <p:nvSpPr>
          <p:cNvPr id="11" name="Shape 7"/>
          <p:cNvSpPr/>
          <p:nvPr/>
        </p:nvSpPr>
        <p:spPr>
          <a:xfrm>
            <a:off x="3880396" y="2798490"/>
            <a:ext cx="1203052" cy="928241"/>
          </a:xfrm>
          <a:prstGeom prst="roundRect">
            <a:avLst>
              <a:gd name="adj" fmla="val 11881"/>
            </a:avLst>
          </a:prstGeom>
          <a:solidFill>
            <a:srgbClr val="1F1F1F"/>
          </a:solidFill>
          <a:ln w="4763">
            <a:solidFill>
              <a:srgbClr val="383838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5788" y="3176439"/>
            <a:ext cx="172269" cy="17226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05933" y="2920975"/>
            <a:ext cx="3364185" cy="255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Real-Time Dashboard &amp; Inventory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5205933" y="3246016"/>
            <a:ext cx="3364185" cy="35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Live sales, profit, stock overview with </a:t>
            </a: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low-stock alerts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144691" y="3720778"/>
            <a:ext cx="3486671" cy="7144"/>
          </a:xfrm>
          <a:prstGeom prst="roundRect">
            <a:avLst>
              <a:gd name="adj" fmla="val 49998"/>
            </a:avLst>
          </a:prstGeom>
          <a:solidFill>
            <a:srgbClr val="383838"/>
          </a:solidFill>
          <a:ln/>
        </p:spPr>
      </p:sp>
      <p:sp>
        <p:nvSpPr>
          <p:cNvPr id="16" name="Shape 11"/>
          <p:cNvSpPr/>
          <p:nvPr/>
        </p:nvSpPr>
        <p:spPr>
          <a:xfrm>
            <a:off x="3880396" y="3787973"/>
            <a:ext cx="1804541" cy="1183481"/>
          </a:xfrm>
          <a:prstGeom prst="roundRect">
            <a:avLst>
              <a:gd name="adj" fmla="val 9319"/>
            </a:avLst>
          </a:prstGeom>
          <a:solidFill>
            <a:srgbClr val="1F1F1F"/>
          </a:solidFill>
          <a:ln w="4763">
            <a:solidFill>
              <a:srgbClr val="383838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6495" y="4293543"/>
            <a:ext cx="172269" cy="1722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07422" y="3910459"/>
            <a:ext cx="2762696" cy="51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ML Forecasting &amp; Anomaly Detection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5807422" y="4490740"/>
            <a:ext cx="2762696" cy="358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Demand prediction and </a:t>
            </a: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unusual sales pattern flagging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746179" y="4965502"/>
            <a:ext cx="2885182" cy="7144"/>
          </a:xfrm>
          <a:prstGeom prst="roundRect">
            <a:avLst>
              <a:gd name="adj" fmla="val 49998"/>
            </a:avLst>
          </a:prstGeom>
          <a:solidFill>
            <a:srgbClr val="383838"/>
          </a:solidFill>
          <a:ln/>
        </p:spPr>
      </p:sp>
      <p:sp>
        <p:nvSpPr>
          <p:cNvPr id="21" name="Shape 15"/>
          <p:cNvSpPr/>
          <p:nvPr/>
        </p:nvSpPr>
        <p:spPr>
          <a:xfrm>
            <a:off x="3880396" y="5032697"/>
            <a:ext cx="2406104" cy="1362596"/>
          </a:xfrm>
          <a:prstGeom prst="roundRect">
            <a:avLst>
              <a:gd name="adj" fmla="val 8094"/>
            </a:avLst>
          </a:prstGeom>
          <a:solidFill>
            <a:srgbClr val="1F1F1F"/>
          </a:solidFill>
          <a:ln w="4763">
            <a:solidFill>
              <a:srgbClr val="383838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7276" y="5627787"/>
            <a:ext cx="172269" cy="1722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8986" y="5155183"/>
            <a:ext cx="2161133" cy="51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FE6A03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 Business Assistant &amp; Reports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6408986" y="5735464"/>
            <a:ext cx="2161133" cy="537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Natural-language Q&amp;A and </a:t>
            </a: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auto-generated business summaries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3880396" y="527521"/>
            <a:ext cx="4812209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What Makes RetailIQ Different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3880396" y="1071190"/>
            <a:ext cx="4812209" cy="731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spcAft>
                <a:spcPts val="900"/>
              </a:spcAft>
              <a:buNone/>
            </a:pPr>
            <a:endParaRPr lang="en-US" sz="1100" dirty="0"/>
          </a:p>
          <a:p>
            <a:pPr marL="0" indent="0" algn="l">
              <a:lnSpc>
                <a:spcPct val="95000"/>
              </a:lnSpc>
              <a:spcAft>
                <a:spcPts val="900"/>
              </a:spcAft>
              <a:buNone/>
            </a:pPr>
            <a:endParaRPr lang="en-US" sz="1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396" y="1919957"/>
            <a:ext cx="4812209" cy="4643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96482" y="2488778"/>
            <a:ext cx="4580037" cy="24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WhatsApp-Based Reporting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3996482" y="2793206"/>
            <a:ext cx="458003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Business summary delivered where owners already are</a:t>
            </a:r>
            <a:endParaRPr lang="en-US" sz="11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0396" y="3074715"/>
            <a:ext cx="4812209" cy="4643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96482" y="3643536"/>
            <a:ext cx="4580037" cy="24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Employee-Level Anomaly Attribution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3996482" y="3947964"/>
            <a:ext cx="458003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Flags irregular sales tied to specific staff shifts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396" y="4229472"/>
            <a:ext cx="4812209" cy="4643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96482" y="4798293"/>
            <a:ext cx="4580037" cy="24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Regional-Language Voice Assistant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3996482" y="5102721"/>
            <a:ext cx="458003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Hindi and regional Indian language support</a:t>
            </a:r>
            <a:endParaRPr lang="en-US" sz="1100" dirty="0"/>
          </a:p>
        </p:txBody>
      </p:sp>
      <p:sp>
        <p:nvSpPr>
          <p:cNvPr id="14" name="Text 8"/>
          <p:cNvSpPr/>
          <p:nvPr/>
        </p:nvSpPr>
        <p:spPr>
          <a:xfrm>
            <a:off x="3880396" y="5595714"/>
            <a:ext cx="2264494" cy="6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9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Built for small retailers:</a:t>
            </a: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Not a stripped-down enterprise tool</a:t>
            </a:r>
            <a:endParaRPr lang="en-US" sz="900" dirty="0"/>
          </a:p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9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Free-tier API approach:</a:t>
            </a: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Affordable for micro-businesses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6432872" y="5595714"/>
            <a:ext cx="2264494" cy="6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9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No English barrier:</a:t>
            </a: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Operates in local Indian languages</a:t>
            </a:r>
            <a:endParaRPr lang="en-US" sz="900" dirty="0"/>
          </a:p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9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Fraud &amp; shrinkage detection:</a:t>
            </a:r>
            <a:r>
              <a:rPr lang="en-US" sz="9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Employee-level attribution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539874"/>
            <a:ext cx="4812209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How RetailIQ Compares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1396" y="1083543"/>
            <a:ext cx="4812209" cy="44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spcAft>
                <a:spcPts val="900"/>
              </a:spcAft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1396" y="1649388"/>
            <a:ext cx="4812209" cy="3794150"/>
          </a:xfrm>
          <a:prstGeom prst="roundRect">
            <a:avLst>
              <a:gd name="adj" fmla="val 275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1396" y="2122215"/>
            <a:ext cx="4812209" cy="7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51396" y="2592660"/>
            <a:ext cx="4812209" cy="7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1396" y="3063106"/>
            <a:ext cx="4812209" cy="7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51396" y="3698974"/>
            <a:ext cx="4812209" cy="7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51396" y="4334842"/>
            <a:ext cx="4812209" cy="7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451396" y="4970711"/>
            <a:ext cx="4812209" cy="7256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56158" y="1654150"/>
            <a:ext cx="1200671" cy="468064"/>
          </a:xfrm>
          <a:custGeom>
            <a:avLst/>
            <a:gdLst/>
            <a:ahLst/>
            <a:cxnLst/>
            <a:rect l="l" t="t" r="r" b="b"/>
            <a:pathLst>
              <a:path w="1200671" h="468064">
                <a:moveTo>
                  <a:pt x="87069" y="0"/>
                </a:moveTo>
                <a:lnTo>
                  <a:pt x="1200671" y="0"/>
                </a:lnTo>
                <a:lnTo>
                  <a:pt x="1200671" y="468064"/>
                </a:lnTo>
                <a:lnTo>
                  <a:pt x="0" y="468064"/>
                </a:lnTo>
                <a:lnTo>
                  <a:pt x="0" y="87069"/>
                </a:lnTo>
                <a:arcTo wR="87069" hR="87069" stAng="10800000" swAng="5400000"/>
                <a:close/>
              </a:path>
            </a:pathLst>
          </a:custGeom>
          <a:solidFill>
            <a:srgbClr val="FE6A03"/>
          </a:solidFill>
          <a:ln/>
        </p:spPr>
      </p:sp>
      <p:sp>
        <p:nvSpPr>
          <p:cNvPr id="13" name="Text 10"/>
          <p:cNvSpPr/>
          <p:nvPr/>
        </p:nvSpPr>
        <p:spPr>
          <a:xfrm>
            <a:off x="572244" y="1721569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656829" y="1654150"/>
            <a:ext cx="1200671" cy="468064"/>
          </a:xfrm>
          <a:prstGeom prst="rect">
            <a:avLst/>
          </a:prstGeom>
          <a:solidFill>
            <a:srgbClr val="FE6A03"/>
          </a:solidFill>
          <a:ln/>
        </p:spPr>
      </p:sp>
      <p:sp>
        <p:nvSpPr>
          <p:cNvPr id="15" name="Text 12"/>
          <p:cNvSpPr/>
          <p:nvPr/>
        </p:nvSpPr>
        <p:spPr>
          <a:xfrm>
            <a:off x="1772915" y="1721569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Cin7 / Zoho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857500" y="1654150"/>
            <a:ext cx="1200671" cy="468064"/>
          </a:xfrm>
          <a:prstGeom prst="rect">
            <a:avLst/>
          </a:prstGeom>
          <a:solidFill>
            <a:srgbClr val="FE6A03"/>
          </a:solidFill>
          <a:ln/>
        </p:spPr>
      </p:sp>
      <p:sp>
        <p:nvSpPr>
          <p:cNvPr id="17" name="Text 14"/>
          <p:cNvSpPr/>
          <p:nvPr/>
        </p:nvSpPr>
        <p:spPr>
          <a:xfrm>
            <a:off x="2973586" y="1721569"/>
            <a:ext cx="968499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Enterprise (IBM)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058171" y="1654150"/>
            <a:ext cx="1200671" cy="468064"/>
          </a:xfrm>
          <a:custGeom>
            <a:avLst/>
            <a:gdLst/>
            <a:ahLst/>
            <a:cxnLst/>
            <a:rect l="l" t="t" r="r" b="b"/>
            <a:pathLst>
              <a:path w="1200671" h="468064">
                <a:moveTo>
                  <a:pt x="0" y="0"/>
                </a:moveTo>
                <a:lnTo>
                  <a:pt x="1113602" y="0"/>
                </a:lnTo>
                <a:arcTo wR="87069" hR="87069" stAng="16200000" swAng="5400000"/>
                <a:lnTo>
                  <a:pt x="1200671" y="468064"/>
                </a:lnTo>
                <a:lnTo>
                  <a:pt x="0" y="468064"/>
                </a:lnTo>
                <a:lnTo>
                  <a:pt x="0" y="0"/>
                </a:lnTo>
                <a:close/>
              </a:path>
            </a:pathLst>
          </a:custGeom>
          <a:solidFill>
            <a:srgbClr val="FE6A03"/>
          </a:solidFill>
          <a:ln/>
        </p:spPr>
      </p:sp>
      <p:sp>
        <p:nvSpPr>
          <p:cNvPr id="19" name="Text 16"/>
          <p:cNvSpPr/>
          <p:nvPr/>
        </p:nvSpPr>
        <p:spPr>
          <a:xfrm>
            <a:off x="4174257" y="1721569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RetailIQ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2244" y="2192015"/>
            <a:ext cx="968499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AI Demand Forecasting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772915" y="2192015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Paid add-on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973586" y="2192015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 (complex)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174257" y="2192015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Included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2244" y="2662461"/>
            <a:ext cx="968499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Affordable for small shops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72915" y="2662461"/>
            <a:ext cx="968499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 ($349+/mo)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973586" y="2662461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174257" y="2662461"/>
            <a:ext cx="968499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 (free-tier APIs)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2244" y="3132906"/>
            <a:ext cx="968499" cy="4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Regional language support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772915" y="3132906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973586" y="3132906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174257" y="3132906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2244" y="3768775"/>
            <a:ext cx="968499" cy="4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WhatsApp-native reporting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772915" y="3768775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2973586" y="3768775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174257" y="3768775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2244" y="4404643"/>
            <a:ext cx="968499" cy="4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Employee anomaly attribution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772915" y="4404643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2973586" y="4404643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Partial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174257" y="4404643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572244" y="5040511"/>
            <a:ext cx="968499" cy="330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Simple, non-technical setup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1772915" y="5040511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Partial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2973586" y="5040511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174257" y="5040511"/>
            <a:ext cx="142569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Yes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1396" y="5561037"/>
            <a:ext cx="4812209" cy="757014"/>
          </a:xfrm>
          <a:prstGeom prst="roundRect">
            <a:avLst>
              <a:gd name="adj" fmla="val 13802"/>
            </a:avLst>
          </a:prstGeom>
          <a:solidFill>
            <a:srgbClr val="000000">
              <a:alpha val="95000"/>
            </a:srgbClr>
          </a:solidFill>
          <a:ln w="14288">
            <a:solidFill>
              <a:srgbClr val="38383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81769" y="5691411"/>
            <a:ext cx="4551462" cy="49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RetailIQ is the only platform that combines affordability, regional language support, WhatsApp-native delivery, and employee-level fraud detection in a single product built for Indian small retailers.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69292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81930"/>
                </a:lnTo>
                <a:lnTo>
                  <a:pt x="95020" y="85250"/>
                </a:lnTo>
                <a:lnTo>
                  <a:pt x="90920" y="87600"/>
                </a:lnTo>
                <a:lnTo>
                  <a:pt x="88960" y="88480"/>
                </a:lnTo>
                <a:lnTo>
                  <a:pt x="88870" y="88670"/>
                </a:lnTo>
                <a:lnTo>
                  <a:pt x="83400" y="91210"/>
                </a:lnTo>
                <a:lnTo>
                  <a:pt x="76070" y="93950"/>
                </a:lnTo>
                <a:lnTo>
                  <a:pt x="69820" y="95700"/>
                </a:lnTo>
                <a:lnTo>
                  <a:pt x="63480" y="96970"/>
                </a:lnTo>
                <a:lnTo>
                  <a:pt x="57130" y="97750"/>
                </a:lnTo>
                <a:lnTo>
                  <a:pt x="50200" y="98050"/>
                </a:lnTo>
                <a:lnTo>
                  <a:pt x="44240" y="97850"/>
                </a:lnTo>
                <a:lnTo>
                  <a:pt x="38480" y="97270"/>
                </a:lnTo>
                <a:lnTo>
                  <a:pt x="32810" y="96290"/>
                </a:lnTo>
                <a:lnTo>
                  <a:pt x="25200" y="94340"/>
                </a:lnTo>
                <a:lnTo>
                  <a:pt x="19530" y="92380"/>
                </a:lnTo>
                <a:lnTo>
                  <a:pt x="13960" y="90040"/>
                </a:lnTo>
                <a:lnTo>
                  <a:pt x="7320" y="86620"/>
                </a:lnTo>
                <a:lnTo>
                  <a:pt x="290" y="82230"/>
                </a:lnTo>
                <a:lnTo>
                  <a:pt x="0" y="8193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2258095"/>
            <a:ext cx="8241209" cy="537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System Architecture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451396" y="2988990"/>
            <a:ext cx="8692604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51396" y="3327574"/>
            <a:ext cx="4056087" cy="386953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382664" y="3404964"/>
            <a:ext cx="19347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80355" y="3843486"/>
            <a:ext cx="3798168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React Frontend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80355" y="4189512"/>
            <a:ext cx="3798168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User interface layer for Admin, Manager, and Employee roles with real-time dashboard.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36443" y="3327574"/>
            <a:ext cx="4056162" cy="386953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67785" y="3404964"/>
            <a:ext cx="19347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765402" y="3843486"/>
            <a:ext cx="3798243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Node.js + Express Backend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765402" y="4189512"/>
            <a:ext cx="3798243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Single layer communicating with both frontend and PostgreSQL database. All routing handled here.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1396" y="4834384"/>
            <a:ext cx="4056087" cy="386953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82664" y="4911775"/>
            <a:ext cx="19347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80355" y="5350297"/>
            <a:ext cx="3798168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FastAPI ML/GenAI Microservices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580355" y="5696322"/>
            <a:ext cx="3798168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All ML and Generative AI work happens through internal FastAPI microservice calls from the backend.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36443" y="4834384"/>
            <a:ext cx="4056162" cy="386953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67785" y="4911775"/>
            <a:ext cx="19347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765402" y="5350297"/>
            <a:ext cx="3798243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PostgreSQL Database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4765402" y="5696322"/>
            <a:ext cx="3798243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Persistent data store for inventory, sales, users, and analytics hosted via Neon.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829121"/>
            <a:ext cx="4812209" cy="429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451396" y="1452563"/>
            <a:ext cx="4812209" cy="725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1100"/>
              </a:spcAft>
              <a:buNone/>
            </a:pPr>
            <a:r>
              <a:rPr lang="en-US" sz="12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RetailIQ is built on a modern, full-stack architecture combining proven web technologies with cutting-edge AI and ML tooling.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96503" y="2323207"/>
            <a:ext cx="14288" cy="3705671"/>
          </a:xfrm>
          <a:prstGeom prst="roundRect">
            <a:avLst>
              <a:gd name="adj" fmla="val 49998"/>
            </a:avLst>
          </a:prstGeom>
          <a:solidFill>
            <a:srgbClr val="E45000"/>
          </a:solidFill>
          <a:ln/>
        </p:spPr>
      </p:sp>
      <p:sp>
        <p:nvSpPr>
          <p:cNvPr id="6" name="Shape 3"/>
          <p:cNvSpPr/>
          <p:nvPr/>
        </p:nvSpPr>
        <p:spPr>
          <a:xfrm>
            <a:off x="727323" y="2461171"/>
            <a:ext cx="386953" cy="14288"/>
          </a:xfrm>
          <a:prstGeom prst="roundRect">
            <a:avLst>
              <a:gd name="adj" fmla="val 49998"/>
            </a:avLst>
          </a:prstGeom>
          <a:solidFill>
            <a:srgbClr val="E45000"/>
          </a:solidFill>
          <a:ln/>
        </p:spPr>
      </p:sp>
      <p:sp>
        <p:nvSpPr>
          <p:cNvPr id="7" name="Shape 4"/>
          <p:cNvSpPr/>
          <p:nvPr/>
        </p:nvSpPr>
        <p:spPr>
          <a:xfrm>
            <a:off x="451396" y="2323207"/>
            <a:ext cx="290215" cy="290215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62149" y="2307096"/>
            <a:ext cx="268709" cy="322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241450" y="2371576"/>
            <a:ext cx="4022154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Frontend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241450" y="2717602"/>
            <a:ext cx="4022154" cy="193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React.js, HTML, CSS, JavaScript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27323" y="3306961"/>
            <a:ext cx="386953" cy="14288"/>
          </a:xfrm>
          <a:prstGeom prst="roundRect">
            <a:avLst>
              <a:gd name="adj" fmla="val 49998"/>
            </a:avLst>
          </a:prstGeom>
          <a:solidFill>
            <a:srgbClr val="E45000"/>
          </a:solidFill>
          <a:ln/>
        </p:spPr>
      </p:sp>
      <p:sp>
        <p:nvSpPr>
          <p:cNvPr id="12" name="Shape 9"/>
          <p:cNvSpPr/>
          <p:nvPr/>
        </p:nvSpPr>
        <p:spPr>
          <a:xfrm>
            <a:off x="451396" y="3168997"/>
            <a:ext cx="290215" cy="290215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2149" y="3152887"/>
            <a:ext cx="268709" cy="322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1241450" y="3217366"/>
            <a:ext cx="4022154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Backend &amp; Database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241450" y="3563392"/>
            <a:ext cx="4022154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Node.js, Express.js, Prisma ORM, PostgreSQL (Neon), JWT + bcrypt Auth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27323" y="4346228"/>
            <a:ext cx="386953" cy="14288"/>
          </a:xfrm>
          <a:prstGeom prst="roundRect">
            <a:avLst>
              <a:gd name="adj" fmla="val 49998"/>
            </a:avLst>
          </a:prstGeom>
          <a:solidFill>
            <a:srgbClr val="E45000"/>
          </a:solidFill>
          <a:ln/>
        </p:spPr>
      </p:sp>
      <p:sp>
        <p:nvSpPr>
          <p:cNvPr id="17" name="Shape 14"/>
          <p:cNvSpPr/>
          <p:nvPr/>
        </p:nvSpPr>
        <p:spPr>
          <a:xfrm>
            <a:off x="451396" y="4208264"/>
            <a:ext cx="290215" cy="290215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2149" y="4192153"/>
            <a:ext cx="268709" cy="322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1241450" y="4256633"/>
            <a:ext cx="4022154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Machine Learning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1241450" y="4602659"/>
            <a:ext cx="4022154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Python, Scikit-learn, Pandas, NumPy, FastAPI service layer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27323" y="5385495"/>
            <a:ext cx="386953" cy="14288"/>
          </a:xfrm>
          <a:prstGeom prst="roundRect">
            <a:avLst>
              <a:gd name="adj" fmla="val 49998"/>
            </a:avLst>
          </a:prstGeom>
          <a:solidFill>
            <a:srgbClr val="E45000"/>
          </a:solidFill>
          <a:ln/>
        </p:spPr>
      </p:sp>
      <p:sp>
        <p:nvSpPr>
          <p:cNvPr id="22" name="Shape 19"/>
          <p:cNvSpPr/>
          <p:nvPr/>
        </p:nvSpPr>
        <p:spPr>
          <a:xfrm>
            <a:off x="451396" y="5247531"/>
            <a:ext cx="290215" cy="290215"/>
          </a:xfrm>
          <a:prstGeom prst="roundRect">
            <a:avLst>
              <a:gd name="adj" fmla="val 40002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2149" y="5231420"/>
            <a:ext cx="268709" cy="3224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2100" dirty="0"/>
          </a:p>
        </p:txBody>
      </p:sp>
      <p:sp>
        <p:nvSpPr>
          <p:cNvPr id="24" name="Text 21"/>
          <p:cNvSpPr/>
          <p:nvPr/>
        </p:nvSpPr>
        <p:spPr>
          <a:xfrm>
            <a:off x="1241450" y="5295900"/>
            <a:ext cx="4022154" cy="26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AI, Voice &amp; Messaging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1241450" y="5641925"/>
            <a:ext cx="4022154" cy="386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Gemini API / OpenAI API, OpenAI Whisper, Google Cloud TTS, Twilio WhatsApp API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514424"/>
            <a:ext cx="4812209" cy="386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Future Scope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451396" y="1058094"/>
            <a:ext cx="4812209" cy="8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RetailIQ's roadmap extends the platform's intelligence and reach with features designed for real-world Indian retail conditions.</a:t>
            </a:r>
            <a:endParaRPr lang="en-US" sz="1100" dirty="0"/>
          </a:p>
          <a:p>
            <a:pPr marL="0" indent="0" algn="l">
              <a:lnSpc>
                <a:spcPct val="95000"/>
              </a:lnSpc>
              <a:spcAft>
                <a:spcPts val="900"/>
              </a:spcAft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25525" y="2188369"/>
            <a:ext cx="4638005" cy="116086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1396" y="2072283"/>
            <a:ext cx="348258" cy="348258"/>
          </a:xfrm>
          <a:prstGeom prst="ellipse">
            <a:avLst/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460" y="2159347"/>
            <a:ext cx="174129" cy="17412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7482" y="2525018"/>
            <a:ext cx="4580037" cy="24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OCR Invoice Scanning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567482" y="2829446"/>
            <a:ext cx="4580037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GenAI-powered automatic restock entry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99654" y="3331518"/>
            <a:ext cx="4463876" cy="116086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25525" y="3215432"/>
            <a:ext cx="348258" cy="348258"/>
          </a:xfrm>
          <a:prstGeom prst="ellipse">
            <a:avLst/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589" y="3302496"/>
            <a:ext cx="174129" cy="1741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1611" y="3668167"/>
            <a:ext cx="4405908" cy="24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Festival-Aware Forecasting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741611" y="3972595"/>
            <a:ext cx="4405908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Diwali, Holi, and regional festival demand spikes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73782" y="4474666"/>
            <a:ext cx="4289747" cy="116086"/>
          </a:xfrm>
          <a:prstGeom prst="roundRect">
            <a:avLst>
              <a:gd name="adj" fmla="val 50000"/>
            </a:avLst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99654" y="4358580"/>
            <a:ext cx="348258" cy="348258"/>
          </a:xfrm>
          <a:prstGeom prst="ellipse">
            <a:avLst/>
          </a:prstGeom>
          <a:solidFill>
            <a:srgbClr val="FE6A03"/>
          </a:solidFill>
          <a:ln w="4763">
            <a:solidFill>
              <a:srgbClr val="E45000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718" y="4445645"/>
            <a:ext cx="174129" cy="17412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5739" y="4811316"/>
            <a:ext cx="4231779" cy="241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Offline-First PWA Mode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915739" y="5115744"/>
            <a:ext cx="4231779" cy="165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1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Low-connectivity support for rural retailers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51396" y="5608737"/>
            <a:ext cx="2264494" cy="6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Voice-based billing: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Hands-free transaction entry</a:t>
            </a:r>
            <a:endParaRPr lang="en-US" sz="1200" dirty="0"/>
          </a:p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Dead-stock alerts: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Slow-moving inventory clearance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003872" y="5608737"/>
            <a:ext cx="2264494" cy="69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Auto-categorization: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New products via photo recognition</a:t>
            </a:r>
            <a:endParaRPr lang="en-US" sz="1200" dirty="0"/>
          </a:p>
          <a:p>
            <a:pPr marL="182880" indent="-182880" algn="l">
              <a:lnSpc>
                <a:spcPct val="95000"/>
              </a:lnSpc>
              <a:buSzPct val="100000"/>
              <a:buChar char="•"/>
            </a:pPr>
            <a:r>
              <a:rPr lang="en-US" sz="1200" b="1" dirty="0">
                <a:solidFill>
                  <a:srgbClr val="B5B5B5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Multi-branch support:</a:t>
            </a:r>
            <a:r>
              <a:rPr lang="en-US" sz="120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Scale to multiple store locations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51396" y="497160"/>
            <a:ext cx="4812209" cy="456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9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Conclusion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451396" y="1093738"/>
            <a:ext cx="4812209" cy="408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spcAft>
                <a:spcPts val="800"/>
              </a:spcAft>
              <a:buNone/>
            </a:pP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643" y="1607493"/>
            <a:ext cx="595461" cy="11677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77280" y="2257574"/>
            <a:ext cx="154112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2061716" y="1869207"/>
            <a:ext cx="3092276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Full-Stack Development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2061716" y="2153469"/>
            <a:ext cx="3092276" cy="3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React + Node.js + PostgreSQL</a:t>
            </a:r>
            <a:endParaRPr lang="en-US" sz="10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End-to-end modern web architecture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1979488" y="2783012"/>
            <a:ext cx="3256731" cy="7144"/>
          </a:xfrm>
          <a:prstGeom prst="roundRect">
            <a:avLst>
              <a:gd name="adj" fmla="val 49998"/>
            </a:avLst>
          </a:prstGeom>
          <a:solidFill>
            <a:srgbClr val="FE6A03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912" y="2802657"/>
            <a:ext cx="1190997" cy="11677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77280" y="3294013"/>
            <a:ext cx="154112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2359521" y="3064371"/>
            <a:ext cx="2794471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2359521" y="3348633"/>
            <a:ext cx="2794471" cy="3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Scikit-learn + FastAPI microservices</a:t>
            </a:r>
            <a:endParaRPr lang="en-US" sz="10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Demand forecasting &amp; anomaly detection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2277294" y="3978176"/>
            <a:ext cx="2958926" cy="7144"/>
          </a:xfrm>
          <a:prstGeom prst="roundRect">
            <a:avLst>
              <a:gd name="adj" fmla="val 49998"/>
            </a:avLst>
          </a:prstGeom>
          <a:solidFill>
            <a:srgbClr val="FE6A03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181" y="3997821"/>
            <a:ext cx="1786458" cy="11677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77280" y="4489177"/>
            <a:ext cx="154112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657252" y="4259535"/>
            <a:ext cx="2496741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2657252" y="4543797"/>
            <a:ext cx="2496741" cy="36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Gemini / OpenAI + Whisper + TTS</a:t>
            </a:r>
            <a:endParaRPr lang="en-US" sz="10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Voice assistant &amp; auto-generated reports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2575024" y="5173340"/>
            <a:ext cx="2661196" cy="7144"/>
          </a:xfrm>
          <a:prstGeom prst="roundRect">
            <a:avLst>
              <a:gd name="adj" fmla="val 49998"/>
            </a:avLst>
          </a:prstGeom>
          <a:solidFill>
            <a:srgbClr val="FE6A03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76" y="5192985"/>
            <a:ext cx="2381994" cy="11677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77280" y="5684341"/>
            <a:ext cx="154112" cy="1849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2954982" y="5302597"/>
            <a:ext cx="2199010" cy="228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Inter Tight Medium" pitchFamily="34" charset="0"/>
                <a:ea typeface="Inter Tight Medium" pitchFamily="34" charset="-122"/>
                <a:cs typeface="Inter Tight Medium" pitchFamily="34" charset="-120"/>
              </a:rPr>
              <a:t>Purpose-Built for India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2954982" y="5586859"/>
            <a:ext cx="2199010" cy="664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FE6A03"/>
                </a:solidFill>
                <a:latin typeface="Inter Tight Bold" pitchFamily="34" charset="0"/>
                <a:ea typeface="Inter Tight Bold" pitchFamily="34" charset="-122"/>
                <a:cs typeface="Inter Tight Bold" pitchFamily="34" charset="-120"/>
              </a:rPr>
              <a:t>Affordable, multilingual, WhatsApp-native</a:t>
            </a:r>
            <a:endParaRPr lang="en-US" sz="105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50" dirty="0">
                <a:solidFill>
                  <a:srgbClr val="B5B5B5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Serving underserved small &amp; medium retailers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759</Words>
  <Application>Microsoft Office PowerPoint</Application>
  <PresentationFormat>On-screen Show (4:3)</PresentationFormat>
  <Paragraphs>141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Inter Tight Medium</vt:lpstr>
      <vt:lpstr>Arial</vt:lpstr>
      <vt:lpstr>Inter Tight</vt:lpstr>
      <vt:lpstr>Inter Tight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Ananya Saxena</cp:lastModifiedBy>
  <cp:revision>2</cp:revision>
  <dcterms:created xsi:type="dcterms:W3CDTF">2026-08-01T13:27:08Z</dcterms:created>
  <dcterms:modified xsi:type="dcterms:W3CDTF">2026-08-02T05:00:57Z</dcterms:modified>
</cp:coreProperties>
</file>